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50753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8304254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138324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5798605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209746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3069420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377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8784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8882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712501-0D0E-806C-6143-91D67E157C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743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18855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461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5E5E9B-550E-4A41-64D8-28F2312693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7887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11225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8314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475D3A-7840-741F-2116-A4156B7F3B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6004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9421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031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FA0241-2090-4BC3-A847-F384FCB7A6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42041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2795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7632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441FB3-C08B-7F45-B3E9-519979DE8B1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23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1019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156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184034-D873-9AAC-B660-6D25A56397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843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443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57763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EE14AE-B0D0-E96E-8A90-2141E7F9BD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5816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07097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15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78E4CA-59C6-D562-F4B2-76FDE144FC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9352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5481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662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47C2A6-7009-A7DA-9438-6B3F27FAA8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6816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32626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77973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B52BA6-283D-5269-1143-7CD81D8EC4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924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313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40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866F3A-B063-4610-CD12-AAB82FC20F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952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4954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9832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929107-A725-E7F3-55E7-480B3E416A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1000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4007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8094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66B85B-9299-4964-D4AB-C761F2C28E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66853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3296867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7976295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8/17/2026</a:t>
            </a:fld>
            <a:endParaRPr lang="en-US"/>
          </a:p>
        </p:txBody>
      </p:sp>
      <p:sp>
        <p:nvSpPr>
          <p:cNvPr id="9996297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51125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0548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1566409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037414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8/17/2026</a:t>
            </a:fld>
            <a:endParaRPr lang="en-US"/>
          </a:p>
        </p:txBody>
      </p:sp>
      <p:sp>
        <p:nvSpPr>
          <p:cNvPr id="17534919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34096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1680208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558353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364115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8/17/2026</a:t>
            </a:fld>
            <a:endParaRPr lang="en-US"/>
          </a:p>
        </p:txBody>
      </p:sp>
      <p:sp>
        <p:nvSpPr>
          <p:cNvPr id="41355660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49529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9980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2150203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742078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1304207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8/17/2026</a:t>
            </a:fld>
            <a:endParaRPr lang="en-US"/>
          </a:p>
        </p:txBody>
      </p:sp>
      <p:sp>
        <p:nvSpPr>
          <p:cNvPr id="87130034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157706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5835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6631750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5948426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0804818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3970377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5566505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8/17/2026</a:t>
            </a:fld>
            <a:endParaRPr lang="en-US"/>
          </a:p>
        </p:txBody>
      </p:sp>
      <p:sp>
        <p:nvSpPr>
          <p:cNvPr id="39629294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434548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7121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7482484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8/17/2026</a:t>
            </a:fld>
            <a:endParaRPr lang="en-US"/>
          </a:p>
        </p:txBody>
      </p:sp>
      <p:sp>
        <p:nvSpPr>
          <p:cNvPr id="141588249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544336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90065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8/17/2026</a:t>
            </a:fld>
            <a:endParaRPr lang="en-US"/>
          </a:p>
        </p:txBody>
      </p:sp>
      <p:sp>
        <p:nvSpPr>
          <p:cNvPr id="164774291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3086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159306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77733106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8676035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582910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8/17/2026</a:t>
            </a:fld>
            <a:endParaRPr lang="en-US"/>
          </a:p>
        </p:txBody>
      </p:sp>
      <p:sp>
        <p:nvSpPr>
          <p:cNvPr id="92668728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057059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0391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5407175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42494045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212715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8/17/2026</a:t>
            </a:fld>
            <a:endParaRPr lang="en-US"/>
          </a:p>
        </p:txBody>
      </p:sp>
      <p:sp>
        <p:nvSpPr>
          <p:cNvPr id="5404775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339386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7493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8121502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468083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8/17/2026</a:t>
            </a:fld>
            <a:endParaRPr lang="en-US"/>
          </a:p>
        </p:txBody>
      </p:sp>
      <p:sp>
        <p:nvSpPr>
          <p:cNvPr id="93216646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894939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20725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0919254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588309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8/17/2026</a:t>
            </a:fld>
            <a:endParaRPr lang="en-US"/>
          </a:p>
        </p:txBody>
      </p:sp>
      <p:sp>
        <p:nvSpPr>
          <p:cNvPr id="73625226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0830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76461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326263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5361698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8/17/2026</a:t>
            </a:fld>
            <a:endParaRPr lang="en-US"/>
          </a:p>
        </p:txBody>
      </p:sp>
      <p:sp>
        <p:nvSpPr>
          <p:cNvPr id="200722595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79469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0671187" name="Picture 1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88900200" name="Picture 2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814512" y="1556443"/>
            <a:ext cx="8562975" cy="3745110"/>
          </a:xfrm>
          <a:prstGeom prst="rect">
            <a:avLst/>
          </a:prstGeom>
        </p:spPr>
      </p:pic>
      <p:pic>
        <p:nvPicPr>
          <p:cNvPr id="593046591" name="Picture 3" descr="imag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2395537" y="4145309"/>
            <a:ext cx="7400925" cy="575220"/>
          </a:xfrm>
          <a:prstGeom prst="rect">
            <a:avLst/>
          </a:prstGeom>
        </p:spPr>
      </p:pic>
      <p:sp>
        <p:nvSpPr>
          <p:cNvPr id="1673645764" name="TextBox 4"/>
          <p:cNvSpPr txBox="1"/>
          <p:nvPr/>
        </p:nvSpPr>
        <p:spPr bwMode="auto">
          <a:xfrm>
            <a:off x="2210514" y="2137469"/>
            <a:ext cx="7770971" cy="1009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5250" b="1" i="0" u="none">
                <a:solidFill>
                  <a:srgbClr val="F8FAFC"/>
                </a:solidFill>
                <a:latin typeface="Poppins"/>
              </a:rPr>
              <a:t>NEXUS GAMING GEAR</a:t>
            </a:r>
            <a:endParaRPr/>
          </a:p>
        </p:txBody>
      </p:sp>
      <p:sp>
        <p:nvSpPr>
          <p:cNvPr id="598445087" name="TextBox 5"/>
          <p:cNvSpPr txBox="1"/>
          <p:nvPr/>
        </p:nvSpPr>
        <p:spPr bwMode="auto">
          <a:xfrm>
            <a:off x="2395537" y="3337619"/>
            <a:ext cx="7400925" cy="384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  <a:defRPr/>
            </a:pPr>
            <a:r>
              <a:rPr sz="2100" b="0" i="0" u="none">
                <a:solidFill>
                  <a:schemeClr val="bg1">
                    <a:lumMod val="95000"/>
                  </a:schemeClr>
                </a:solidFill>
                <a:latin typeface="Lato"/>
              </a:rPr>
              <a:t>E-commerce de </a:t>
            </a:r>
            <a:r>
              <a:rPr sz="2100" b="0" i="0" u="none">
                <a:solidFill>
                  <a:schemeClr val="bg1">
                    <a:lumMod val="95000"/>
                  </a:schemeClr>
                </a:solidFill>
                <a:latin typeface="Lato"/>
              </a:rPr>
              <a:t>Periféricos</a:t>
            </a:r>
            <a:r>
              <a:rPr sz="2100" b="0" i="0" u="none">
                <a:solidFill>
                  <a:schemeClr val="bg1">
                    <a:lumMod val="95000"/>
                  </a:schemeClr>
                </a:solidFill>
                <a:latin typeface="Lato"/>
              </a:rPr>
              <a:t> de Alta Performance</a:t>
            </a:r>
            <a:endParaRPr lang="pt-BR" sz="2100" b="0" i="0" u="none">
              <a:solidFill>
                <a:schemeClr val="bg1">
                  <a:lumMod val="95000"/>
                </a:schemeClr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17088174" name="TextBox 6"/>
          <p:cNvSpPr txBox="1"/>
          <p:nvPr/>
        </p:nvSpPr>
        <p:spPr bwMode="auto">
          <a:xfrm>
            <a:off x="2395537" y="4354859"/>
            <a:ext cx="740092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  <a:defRPr/>
            </a:pPr>
            <a:r>
              <a:rPr sz="1800" b="1" i="0" u="none">
                <a:solidFill>
                  <a:srgbClr val="F8FAFC"/>
                </a:solidFill>
                <a:latin typeface="Lato"/>
              </a:rPr>
              <a:t>Alunos:</a:t>
            </a:r>
            <a:r>
              <a:rPr sz="1800" b="0" i="0" u="none">
                <a:solidFill>
                  <a:srgbClr val="F8FAFC"/>
                </a:solidFill>
                <a:latin typeface="Lato"/>
              </a:rPr>
              <a:t> Fernando Camargo e Lucas Carmona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93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12059" name="TextBox 1"/>
          <p:cNvSpPr txBox="1"/>
          <p:nvPr/>
        </p:nvSpPr>
        <p:spPr bwMode="auto">
          <a:xfrm>
            <a:off x="571500" y="571500"/>
            <a:ext cx="5557172" cy="45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3000" b="1" i="0" u="none">
                <a:solidFill>
                  <a:srgbClr val="8B5CF6"/>
                </a:solidFill>
                <a:latin typeface="Poppins"/>
              </a:rPr>
              <a:t>E</a:t>
            </a:r>
            <a:r>
              <a:rPr lang="pt-BR" sz="3000" b="1" i="0" u="none">
                <a:solidFill>
                  <a:srgbClr val="8B5CF6"/>
                </a:solidFill>
                <a:latin typeface="Poppins"/>
              </a:rPr>
              <a:t>SCOPO E PRODUTOS</a:t>
            </a:r>
            <a:endParaRPr/>
          </a:p>
        </p:txBody>
      </p:sp>
      <p:pic>
        <p:nvPicPr>
          <p:cNvPr id="742356270" name="Picture 2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1302063213" name="TextBox 3"/>
          <p:cNvSpPr txBox="1"/>
          <p:nvPr/>
        </p:nvSpPr>
        <p:spPr bwMode="auto">
          <a:xfrm>
            <a:off x="571500" y="1524000"/>
            <a:ext cx="555069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400" b="0" i="0" u="none">
                <a:solidFill>
                  <a:srgbClr val="F8FAFC"/>
                </a:solidFill>
                <a:latin typeface="Poppins"/>
              </a:rPr>
              <a:t>O Universo Gamer</a:t>
            </a:r>
            <a:endParaRPr/>
          </a:p>
        </p:txBody>
      </p:sp>
      <p:sp>
        <p:nvSpPr>
          <p:cNvPr id="1024904982" name="TextBox 4"/>
          <p:cNvSpPr txBox="1"/>
          <p:nvPr/>
        </p:nvSpPr>
        <p:spPr bwMode="auto">
          <a:xfrm>
            <a:off x="571500" y="2314575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  <a:defRPr/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O Nexus Gaming Gear é uma plataforma de e-commerce dedicada exclusivamente ao público gamer exigente, focando em entregar a melhor experiência de compra para setup e hardware.</a:t>
            </a:r>
            <a:endParaRPr/>
          </a:p>
        </p:txBody>
      </p:sp>
      <p:sp>
        <p:nvSpPr>
          <p:cNvPr id="1833870002" name="TextBox 5"/>
          <p:cNvSpPr txBox="1"/>
          <p:nvPr/>
        </p:nvSpPr>
        <p:spPr bwMode="auto">
          <a:xfrm>
            <a:off x="571500" y="3562350"/>
            <a:ext cx="5286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  <a:defRPr/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Nosso catálogo abrangerá as seguintes categorias principais de periféricos:</a:t>
            </a:r>
            <a:endParaRPr/>
          </a:p>
        </p:txBody>
      </p:sp>
      <p:sp>
        <p:nvSpPr>
          <p:cNvPr id="1510351613" name="TextBox 6"/>
          <p:cNvSpPr txBox="1"/>
          <p:nvPr/>
        </p:nvSpPr>
        <p:spPr bwMode="auto">
          <a:xfrm>
            <a:off x="647700" y="45053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1" i="0" u="none">
                <a:solidFill>
                  <a:srgbClr val="F8FAFC"/>
                </a:solidFill>
                <a:latin typeface="Lato"/>
              </a:rPr>
              <a:t>•</a:t>
            </a:r>
            <a:endParaRPr/>
          </a:p>
        </p:txBody>
      </p:sp>
      <p:sp>
        <p:nvSpPr>
          <p:cNvPr id="178014139" name="TextBox 7"/>
          <p:cNvSpPr txBox="1"/>
          <p:nvPr/>
        </p:nvSpPr>
        <p:spPr bwMode="auto">
          <a:xfrm>
            <a:off x="762000" y="4505325"/>
            <a:ext cx="509587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  <a:defRPr/>
            </a:pPr>
            <a:r>
              <a:rPr sz="1500" b="1" i="0" u="none">
                <a:solidFill>
                  <a:srgbClr val="F8FAFC"/>
                </a:solidFill>
                <a:latin typeface="Lato"/>
              </a:rPr>
              <a:t>Teclados Mecânicos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(Switches lineares, táteis e clicky)</a:t>
            </a:r>
            <a:endParaRPr/>
          </a:p>
        </p:txBody>
      </p:sp>
      <p:sp>
        <p:nvSpPr>
          <p:cNvPr id="1798059872" name="TextBox 8"/>
          <p:cNvSpPr txBox="1"/>
          <p:nvPr/>
        </p:nvSpPr>
        <p:spPr bwMode="auto">
          <a:xfrm>
            <a:off x="647700" y="49244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1" i="0" u="none">
                <a:solidFill>
                  <a:srgbClr val="F8FAFC"/>
                </a:solidFill>
                <a:latin typeface="Lato"/>
              </a:rPr>
              <a:t>•</a:t>
            </a:r>
            <a:endParaRPr/>
          </a:p>
        </p:txBody>
      </p:sp>
      <p:sp>
        <p:nvSpPr>
          <p:cNvPr id="253087906" name="TextBox 9"/>
          <p:cNvSpPr txBox="1"/>
          <p:nvPr/>
        </p:nvSpPr>
        <p:spPr bwMode="auto">
          <a:xfrm>
            <a:off x="762000" y="4924425"/>
            <a:ext cx="5365364" cy="271806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>
              <a:lnSpc>
                <a:spcPts val="2400"/>
              </a:lnSpc>
              <a:defRPr/>
            </a:pPr>
            <a:r>
              <a:rPr sz="1500" b="1" i="0" u="none">
                <a:solidFill>
                  <a:srgbClr val="F8FAFC"/>
                </a:solidFill>
                <a:latin typeface="Lato"/>
              </a:rPr>
              <a:t>Mouses de Alta </a:t>
            </a:r>
            <a:r>
              <a:rPr sz="1500" b="1" i="0" u="none">
                <a:solidFill>
                  <a:srgbClr val="F8FAFC"/>
                </a:solidFill>
                <a:latin typeface="Lato"/>
              </a:rPr>
              <a:t>Precisão</a:t>
            </a:r>
            <a:r>
              <a:rPr sz="1500" b="1" i="0" u="none">
                <a:solidFill>
                  <a:srgbClr val="F8FAFC"/>
                </a:solidFill>
                <a:latin typeface="Lato"/>
              </a:rPr>
              <a:t>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(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Sensores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ópticos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de </a:t>
            </a:r>
            <a:r>
              <a:rPr lang="pt-BR" sz="1500">
                <a:solidFill>
                  <a:srgbClr val="CBD5E1"/>
                </a:solidFill>
                <a:latin typeface="Lato"/>
              </a:rPr>
              <a:t>última geração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)</a:t>
            </a:r>
            <a:endParaRPr/>
          </a:p>
        </p:txBody>
      </p:sp>
      <p:sp>
        <p:nvSpPr>
          <p:cNvPr id="1716361212" name="TextBox 10"/>
          <p:cNvSpPr txBox="1"/>
          <p:nvPr/>
        </p:nvSpPr>
        <p:spPr bwMode="auto">
          <a:xfrm>
            <a:off x="647700" y="53435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1" i="0" u="none">
                <a:solidFill>
                  <a:srgbClr val="F8FAFC"/>
                </a:solidFill>
                <a:latin typeface="Lato"/>
              </a:rPr>
              <a:t>•</a:t>
            </a:r>
            <a:endParaRPr/>
          </a:p>
        </p:txBody>
      </p:sp>
      <p:sp>
        <p:nvSpPr>
          <p:cNvPr id="1794107728" name="TextBox 11"/>
          <p:cNvSpPr txBox="1"/>
          <p:nvPr/>
        </p:nvSpPr>
        <p:spPr bwMode="auto">
          <a:xfrm>
            <a:off x="762000" y="5343525"/>
            <a:ext cx="5095875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  <a:defRPr/>
            </a:pPr>
            <a:r>
              <a:rPr sz="1500" b="1" i="0" u="none">
                <a:solidFill>
                  <a:srgbClr val="F8FAFC"/>
                </a:solidFill>
                <a:latin typeface="Lato"/>
              </a:rPr>
              <a:t>Headsets Imersivos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(Áudio 7.1 Surround e Microfones com noise-canceling)</a:t>
            </a:r>
            <a:endParaRPr/>
          </a:p>
        </p:txBody>
      </p:sp>
      <p:sp>
        <p:nvSpPr>
          <p:cNvPr id="1869114053" name="TextBox 12"/>
          <p:cNvSpPr txBox="1"/>
          <p:nvPr/>
        </p:nvSpPr>
        <p:spPr bwMode="auto">
          <a:xfrm>
            <a:off x="647700" y="60674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1" i="0" u="none">
                <a:solidFill>
                  <a:srgbClr val="F8FAFC"/>
                </a:solidFill>
                <a:latin typeface="Lato"/>
              </a:rPr>
              <a:t>•</a:t>
            </a:r>
            <a:endParaRPr/>
          </a:p>
        </p:txBody>
      </p:sp>
      <p:sp>
        <p:nvSpPr>
          <p:cNvPr id="196561854" name="TextBox 13"/>
          <p:cNvSpPr txBox="1"/>
          <p:nvPr/>
        </p:nvSpPr>
        <p:spPr bwMode="auto">
          <a:xfrm>
            <a:off x="762000" y="6067425"/>
            <a:ext cx="509587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  <a:defRPr/>
            </a:pPr>
            <a:r>
              <a:rPr sz="1500" b="1" i="0" u="none">
                <a:solidFill>
                  <a:srgbClr val="F8FAFC"/>
                </a:solidFill>
                <a:latin typeface="Lato"/>
              </a:rPr>
              <a:t>Acessórios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(Mousepads extended, suportes e iluminação)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93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0732394" name="TextBox 1"/>
          <p:cNvSpPr txBox="1"/>
          <p:nvPr/>
        </p:nvSpPr>
        <p:spPr bwMode="auto">
          <a:xfrm>
            <a:off x="571500" y="571500"/>
            <a:ext cx="11608649" cy="45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3000" b="1" i="0" u="none">
                <a:solidFill>
                  <a:srgbClr val="8B5CF6"/>
                </a:solidFill>
                <a:latin typeface="Poppins"/>
              </a:rPr>
              <a:t>S</a:t>
            </a:r>
            <a:r>
              <a:rPr lang="pt-BR" sz="3000" b="1" i="0" u="none">
                <a:solidFill>
                  <a:srgbClr val="8B5CF6"/>
                </a:solidFill>
                <a:latin typeface="Poppins"/>
              </a:rPr>
              <a:t>TACK TECNOLÓGICO</a:t>
            </a:r>
            <a:endParaRPr/>
          </a:p>
        </p:txBody>
      </p:sp>
      <p:sp>
        <p:nvSpPr>
          <p:cNvPr id="1573305700" name="TextBox 2"/>
          <p:cNvSpPr txBox="1"/>
          <p:nvPr/>
        </p:nvSpPr>
        <p:spPr bwMode="auto">
          <a:xfrm>
            <a:off x="1095375" y="1764208"/>
            <a:ext cx="4714875" cy="895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  <a:defRPr/>
            </a:pPr>
            <a:r>
              <a:rPr sz="1500" b="1" i="0" u="none">
                <a:solidFill>
                  <a:srgbClr val="F8FAFC"/>
                </a:solidFill>
                <a:latin typeface="Lato"/>
              </a:rPr>
              <a:t>Front-end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Desenvolvimento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de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uma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interface moderna e ultra-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responsiva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para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navegação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fluida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de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produtos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.</a:t>
            </a:r>
            <a:r>
              <a:rPr lang="pt-BR" sz="1500">
                <a:solidFill>
                  <a:srgbClr val="CBD5E1"/>
                </a:solidFill>
                <a:latin typeface="Lato"/>
              </a:rPr>
              <a:t> (</a:t>
            </a:r>
            <a:r>
              <a:rPr lang="pt-BR" sz="1500">
                <a:solidFill>
                  <a:srgbClr val="CBD5E1"/>
                </a:solidFill>
                <a:ea typeface="+mn-lt"/>
                <a:cs typeface="+mn-lt"/>
              </a:rPr>
              <a:t>HTML/CSS + </a:t>
            </a:r>
            <a:r>
              <a:rPr lang="pt-BR" sz="1500">
                <a:solidFill>
                  <a:srgbClr val="CBD5E1"/>
                </a:solidFill>
                <a:ea typeface="+mn-lt"/>
                <a:cs typeface="+mn-lt"/>
              </a:rPr>
              <a:t>JavaScript</a:t>
            </a:r>
            <a:r>
              <a:rPr lang="pt-BR" sz="1500">
                <a:solidFill>
                  <a:srgbClr val="CBD5E1"/>
                </a:solidFill>
                <a:ea typeface="+mn-lt"/>
                <a:cs typeface="+mn-lt"/>
              </a:rPr>
              <a:t>)</a:t>
            </a:r>
            <a:endParaRPr sz="1500" b="0" i="0" u="none">
              <a:solidFill>
                <a:srgbClr val="CBD5E1"/>
              </a:solidFill>
              <a:latin typeface="Lato"/>
            </a:endParaRPr>
          </a:p>
        </p:txBody>
      </p:sp>
      <p:sp>
        <p:nvSpPr>
          <p:cNvPr id="124622722" name="TextBox 3"/>
          <p:cNvSpPr txBox="1"/>
          <p:nvPr/>
        </p:nvSpPr>
        <p:spPr bwMode="auto">
          <a:xfrm>
            <a:off x="1095375" y="3089969"/>
            <a:ext cx="4714875" cy="887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  <a:defRPr/>
            </a:pPr>
            <a:r>
              <a:rPr sz="1500" b="1" i="0" u="none">
                <a:solidFill>
                  <a:srgbClr val="F8FAFC"/>
                </a:solidFill>
                <a:latin typeface="Lato"/>
              </a:rPr>
              <a:t>Back-end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Construção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de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uma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API robusta para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gerenciar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rotas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de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compra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,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autenticação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e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controle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de estoque.</a:t>
            </a:r>
            <a:r>
              <a:rPr lang="pt-BR" sz="1500">
                <a:solidFill>
                  <a:srgbClr val="CBD5E1"/>
                </a:solidFill>
                <a:latin typeface="Lato"/>
              </a:rPr>
              <a:t> (</a:t>
            </a:r>
            <a:r>
              <a:rPr lang="pt-BR" sz="1500">
                <a:solidFill>
                  <a:srgbClr val="CBD5E1"/>
                </a:solidFill>
                <a:ea typeface="+mn-lt"/>
                <a:cs typeface="+mn-lt"/>
              </a:rPr>
              <a:t>Java + Spring Boot)</a:t>
            </a:r>
            <a:endParaRPr sz="1500" b="0" i="0" u="none">
              <a:solidFill>
                <a:srgbClr val="CBD5E1"/>
              </a:solidFill>
              <a:latin typeface="Lato"/>
            </a:endParaRPr>
          </a:p>
        </p:txBody>
      </p:sp>
      <p:sp>
        <p:nvSpPr>
          <p:cNvPr id="1840987387" name="TextBox 4"/>
          <p:cNvSpPr txBox="1"/>
          <p:nvPr/>
        </p:nvSpPr>
        <p:spPr bwMode="auto">
          <a:xfrm>
            <a:off x="1095375" y="4415730"/>
            <a:ext cx="4714875" cy="887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  <a:defRPr/>
            </a:pPr>
            <a:r>
              <a:rPr sz="1500" b="1" i="0" u="none">
                <a:solidFill>
                  <a:srgbClr val="F8FAFC"/>
                </a:solidFill>
                <a:latin typeface="Lato"/>
              </a:rPr>
              <a:t>SGBD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Banco de Dados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Relacional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para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garantir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integridade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,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segurança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e performance no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registro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de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transações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.</a:t>
            </a:r>
            <a:r>
              <a:rPr lang="pt-BR" sz="1500">
                <a:solidFill>
                  <a:srgbClr val="CBD5E1"/>
                </a:solidFill>
                <a:latin typeface="Lato"/>
              </a:rPr>
              <a:t> (</a:t>
            </a:r>
            <a:r>
              <a:rPr lang="pt-BR" sz="1500">
                <a:solidFill>
                  <a:srgbClr val="CBD5E1"/>
                </a:solidFill>
                <a:ea typeface="+mn-lt"/>
                <a:cs typeface="+mn-lt"/>
              </a:rPr>
              <a:t>PostgreSQL)</a:t>
            </a:r>
            <a:endParaRPr sz="1500" b="0" i="0" u="none">
              <a:solidFill>
                <a:srgbClr val="CBD5E1"/>
              </a:solidFill>
              <a:latin typeface="Lato"/>
            </a:endParaRPr>
          </a:p>
        </p:txBody>
      </p:sp>
      <p:sp>
        <p:nvSpPr>
          <p:cNvPr id="2090468564" name="TextBox 5"/>
          <p:cNvSpPr txBox="1"/>
          <p:nvPr/>
        </p:nvSpPr>
        <p:spPr bwMode="auto">
          <a:xfrm>
            <a:off x="6905625" y="1764208"/>
            <a:ext cx="4714875" cy="887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  <a:defRPr/>
            </a:pPr>
            <a:r>
              <a:rPr sz="1500" b="1" i="0" u="none">
                <a:solidFill>
                  <a:srgbClr val="F8FAFC"/>
                </a:solidFill>
                <a:latin typeface="Lato"/>
              </a:rPr>
              <a:t>IA (</a:t>
            </a:r>
            <a:r>
              <a:rPr sz="1500" b="1" i="0" u="none">
                <a:solidFill>
                  <a:srgbClr val="F8FAFC"/>
                </a:solidFill>
                <a:latin typeface="Lato"/>
              </a:rPr>
              <a:t>Recomendação</a:t>
            </a:r>
            <a:r>
              <a:rPr sz="1500" b="1" i="0" u="none">
                <a:solidFill>
                  <a:srgbClr val="F8FAFC"/>
                </a:solidFill>
                <a:latin typeface="Lato"/>
              </a:rPr>
              <a:t> de </a:t>
            </a:r>
            <a:r>
              <a:rPr sz="1500" b="1" i="0" u="none">
                <a:solidFill>
                  <a:srgbClr val="F8FAFC"/>
                </a:solidFill>
                <a:latin typeface="Lato"/>
              </a:rPr>
              <a:t>Produtos</a:t>
            </a:r>
            <a:r>
              <a:rPr sz="1500" b="1" i="0" u="none">
                <a:solidFill>
                  <a:srgbClr val="F8FAFC"/>
                </a:solidFill>
                <a:latin typeface="Lato"/>
              </a:rPr>
              <a:t>)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Implementação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de IA para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sugerir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itens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relacionados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com base no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comportamento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e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carrinho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do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usuário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.</a:t>
            </a:r>
            <a:r>
              <a:rPr lang="pt-BR" sz="1500">
                <a:solidFill>
                  <a:srgbClr val="CBD5E1"/>
                </a:solidFill>
                <a:latin typeface="Lato"/>
              </a:rPr>
              <a:t> (</a:t>
            </a:r>
            <a:r>
              <a:rPr lang="pt-BR" sz="1500">
                <a:solidFill>
                  <a:srgbClr val="CBD5E1"/>
                </a:solidFill>
                <a:ea typeface="+mn-lt"/>
                <a:cs typeface="+mn-lt"/>
              </a:rPr>
              <a:t>Vertex</a:t>
            </a:r>
            <a:r>
              <a:rPr lang="pt-BR" sz="1500">
                <a:solidFill>
                  <a:srgbClr val="CBD5E1"/>
                </a:solidFill>
                <a:ea typeface="+mn-lt"/>
                <a:cs typeface="+mn-lt"/>
              </a:rPr>
              <a:t> AI)</a:t>
            </a:r>
            <a:endParaRPr sz="1500" b="0" i="0" u="none">
              <a:solidFill>
                <a:srgbClr val="CBD5E1"/>
              </a:solidFill>
              <a:latin typeface="Lato"/>
            </a:endParaRPr>
          </a:p>
        </p:txBody>
      </p:sp>
      <p:sp>
        <p:nvSpPr>
          <p:cNvPr id="2095241762" name="TextBox 6"/>
          <p:cNvSpPr txBox="1"/>
          <p:nvPr/>
        </p:nvSpPr>
        <p:spPr bwMode="auto">
          <a:xfrm>
            <a:off x="6905625" y="3089969"/>
            <a:ext cx="4714875" cy="887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  <a:defRPr/>
            </a:pPr>
            <a:r>
              <a:rPr sz="1500" b="1" i="0" u="none">
                <a:solidFill>
                  <a:srgbClr val="F8FAFC"/>
                </a:solidFill>
                <a:latin typeface="Lato"/>
              </a:rPr>
              <a:t>IA (</a:t>
            </a:r>
            <a:r>
              <a:rPr sz="1500" b="1" i="0" u="none">
                <a:solidFill>
                  <a:srgbClr val="F8FAFC"/>
                </a:solidFill>
                <a:latin typeface="Lato"/>
              </a:rPr>
              <a:t>Desenvolvimento</a:t>
            </a:r>
            <a:r>
              <a:rPr sz="1500" b="1" i="0" u="none">
                <a:solidFill>
                  <a:srgbClr val="F8FAFC"/>
                </a:solidFill>
                <a:latin typeface="Lato"/>
              </a:rPr>
              <a:t>: Gemini)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Uso do Google Gemini para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acelerar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a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codificação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,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criar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algoritmos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complexos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e auxiliar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em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refatorações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.</a:t>
            </a:r>
            <a:r>
              <a:rPr lang="pt-BR" sz="1500">
                <a:solidFill>
                  <a:srgbClr val="CBD5E1"/>
                </a:solidFill>
                <a:latin typeface="Lato"/>
              </a:rPr>
              <a:t> </a:t>
            </a:r>
            <a:r>
              <a:rPr lang="pt-BR" sz="1500">
                <a:solidFill>
                  <a:srgbClr val="CBD5E1"/>
                </a:solidFill>
                <a:latin typeface="Lato"/>
                <a:ea typeface="Lato"/>
                <a:cs typeface="Lato"/>
              </a:rPr>
              <a:t>(</a:t>
            </a:r>
            <a:r>
              <a:rPr lang="en-US" sz="1500">
                <a:solidFill>
                  <a:srgbClr val="CBD5E1"/>
                </a:solidFill>
                <a:ea typeface="+mn-lt"/>
                <a:cs typeface="+mn-lt"/>
              </a:rPr>
              <a:t>Google Gemini)</a:t>
            </a:r>
            <a:endParaRPr sz="1500" b="0" i="0" u="none">
              <a:solidFill>
                <a:srgbClr val="CBD5E1"/>
              </a:solidFill>
              <a:latin typeface="Lato"/>
            </a:endParaRPr>
          </a:p>
        </p:txBody>
      </p:sp>
      <p:sp>
        <p:nvSpPr>
          <p:cNvPr id="1818778645" name="TextBox 7"/>
          <p:cNvSpPr txBox="1"/>
          <p:nvPr/>
        </p:nvSpPr>
        <p:spPr bwMode="auto">
          <a:xfrm>
            <a:off x="6905625" y="4415730"/>
            <a:ext cx="4714875" cy="887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  <a:defRPr/>
            </a:pPr>
            <a:r>
              <a:rPr sz="1500" b="1" i="0" u="none">
                <a:solidFill>
                  <a:srgbClr val="F8FAFC"/>
                </a:solidFill>
                <a:latin typeface="Lato"/>
              </a:rPr>
              <a:t>Automação</a:t>
            </a:r>
            <a:r>
              <a:rPr sz="1500" b="1" i="0" u="none">
                <a:solidFill>
                  <a:srgbClr val="F8FAFC"/>
                </a:solidFill>
                <a:latin typeface="Lato"/>
              </a:rPr>
              <a:t> de Testes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Testes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funcionais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End-to-End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simulando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fluxos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reais (ex: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carrinho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e checkout) para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garantir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zero bugs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em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produção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.</a:t>
            </a:r>
            <a:r>
              <a:rPr lang="pt-BR" sz="1500">
                <a:solidFill>
                  <a:srgbClr val="CBD5E1"/>
                </a:solidFill>
                <a:latin typeface="Lato"/>
              </a:rPr>
              <a:t> </a:t>
            </a:r>
            <a:r>
              <a:rPr lang="pt-BR" sz="1500">
                <a:solidFill>
                  <a:srgbClr val="CBD5E1"/>
                </a:solidFill>
                <a:latin typeface="Lato"/>
                <a:ea typeface="Lato"/>
                <a:cs typeface="Lato"/>
              </a:rPr>
              <a:t>(</a:t>
            </a:r>
            <a:r>
              <a:rPr lang="en-US" sz="1500">
                <a:solidFill>
                  <a:srgbClr val="CBD5E1"/>
                </a:solidFill>
                <a:ea typeface="+mn-lt"/>
                <a:cs typeface="+mn-lt"/>
              </a:rPr>
              <a:t>Cypress)</a:t>
            </a:r>
            <a:endParaRPr sz="1500" b="0" i="0" u="none">
              <a:solidFill>
                <a:srgbClr val="CBD5E1"/>
              </a:solidFill>
              <a:latin typeface="Lato"/>
            </a:endParaRPr>
          </a:p>
        </p:txBody>
      </p:sp>
      <p:pic>
        <p:nvPicPr>
          <p:cNvPr id="59875565" name="Picture 8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71500" y="1773733"/>
            <a:ext cx="381000" cy="323850"/>
          </a:xfrm>
          <a:prstGeom prst="rect">
            <a:avLst/>
          </a:prstGeom>
        </p:spPr>
      </p:pic>
      <p:pic>
        <p:nvPicPr>
          <p:cNvPr id="1327229652" name="Picture 9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71500" y="3099494"/>
            <a:ext cx="304800" cy="323850"/>
          </a:xfrm>
          <a:prstGeom prst="rect">
            <a:avLst/>
          </a:prstGeom>
        </p:spPr>
      </p:pic>
      <p:pic>
        <p:nvPicPr>
          <p:cNvPr id="1467435193" name="Picture 10" descr="imag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71500" y="4425255"/>
            <a:ext cx="266700" cy="323850"/>
          </a:xfrm>
          <a:prstGeom prst="rect">
            <a:avLst/>
          </a:prstGeom>
        </p:spPr>
      </p:pic>
      <p:pic>
        <p:nvPicPr>
          <p:cNvPr id="659146440" name="Picture 11" descr="image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381750" y="1773733"/>
            <a:ext cx="304800" cy="323850"/>
          </a:xfrm>
          <a:prstGeom prst="rect">
            <a:avLst/>
          </a:prstGeom>
        </p:spPr>
      </p:pic>
      <p:pic>
        <p:nvPicPr>
          <p:cNvPr id="1157080501" name="Picture 12" descr="image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381750" y="3099494"/>
            <a:ext cx="381000" cy="323850"/>
          </a:xfrm>
          <a:prstGeom prst="rect">
            <a:avLst/>
          </a:prstGeom>
        </p:spPr>
      </p:pic>
      <p:pic>
        <p:nvPicPr>
          <p:cNvPr id="1683504883" name="Picture 13" descr="image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6381750" y="4425255"/>
            <a:ext cx="304800" cy="323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93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346010" name="TextBox 1"/>
          <p:cNvSpPr txBox="1"/>
          <p:nvPr/>
        </p:nvSpPr>
        <p:spPr bwMode="auto">
          <a:xfrm flipH="0" flipV="0">
            <a:off x="571500" y="571500"/>
            <a:ext cx="5326986" cy="45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pt-BR" sz="3000" b="1" i="0" u="none">
                <a:solidFill>
                  <a:srgbClr val="8B5CF6"/>
                </a:solidFill>
                <a:latin typeface="Poppins"/>
              </a:rPr>
              <a:t>VISÃO GERAL DA </a:t>
            </a:r>
            <a:r>
              <a:rPr lang="pt-BR" sz="3000" b="1" i="0" u="none">
                <a:solidFill>
                  <a:srgbClr val="8B5CF6"/>
                </a:solidFill>
                <a:latin typeface="Poppins"/>
              </a:rPr>
              <a:t>ENTREGA</a:t>
            </a:r>
            <a:endParaRPr/>
          </a:p>
        </p:txBody>
      </p:sp>
      <p:sp>
        <p:nvSpPr>
          <p:cNvPr id="1469137040" name="TextBox 2"/>
          <p:cNvSpPr txBox="1"/>
          <p:nvPr/>
        </p:nvSpPr>
        <p:spPr bwMode="auto">
          <a:xfrm flipH="0" flipV="0">
            <a:off x="1434975" y="1814010"/>
            <a:ext cx="3602192" cy="9143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indent="0" algn="ctr">
              <a:lnSpc>
                <a:spcPts val="23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u="none" strike="noStrike" cap="none" spc="0">
                <a:solidFill>
                  <a:srgbClr val="F8FAFC"/>
                </a:solidFill>
                <a:latin typeface="undefined"/>
                <a:ea typeface="undefined"/>
                <a:cs typeface="undefined"/>
              </a:rPr>
              <a:t>D</a:t>
            </a:r>
            <a:r>
              <a:rPr lang="pt-BR" sz="1400" i="0" u="none" strike="noStrike" cap="none" spc="0">
                <a:solidFill>
                  <a:srgbClr val="F8FAFC"/>
                </a:solidFill>
                <a:latin typeface="undefined"/>
                <a:ea typeface="undefined"/>
                <a:cs typeface="undefined"/>
              </a:rPr>
              <a:t>ATA DE ENTREGA</a:t>
            </a:r>
            <a:endParaRPr lang="en-US" sz="1500" i="0" u="none" strike="noStrike" cap="none" spc="0">
              <a:solidFill>
                <a:srgbClr val="F8FAFC"/>
              </a:solidFill>
              <a:latin typeface="undefined"/>
              <a:cs typeface="undefined"/>
            </a:endParaRPr>
          </a:p>
          <a:p>
            <a:pPr marL="0" marR="0" indent="0" algn="ctr">
              <a:lnSpc>
                <a:spcPts val="23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i="0" u="none" strike="noStrike" cap="none" spc="0">
                <a:solidFill>
                  <a:srgbClr val="8B5CF6"/>
                </a:solidFill>
                <a:latin typeface="undefined"/>
                <a:ea typeface="undefined"/>
                <a:cs typeface="undefined"/>
              </a:rPr>
              <a:t>31</a:t>
            </a:r>
            <a:r>
              <a:rPr lang="en-US" sz="2000" i="0" u="none" strike="noStrike" cap="none" spc="0">
                <a:solidFill>
                  <a:srgbClr val="8B5CF6"/>
                </a:solidFill>
                <a:latin typeface="undefined"/>
                <a:ea typeface="undefined"/>
                <a:cs typeface="undefined"/>
              </a:rPr>
              <a:t> DE AGOSTO DE 2026</a:t>
            </a:r>
            <a:endParaRPr lang="pt-BR" sz="2000" i="0" u="none" strike="noStrike" cap="none" spc="0">
              <a:solidFill>
                <a:srgbClr val="8B5CF6"/>
              </a:solidFill>
              <a:latin typeface="undefined"/>
              <a:ea typeface="undefined"/>
              <a:cs typeface="undefined"/>
            </a:endParaRPr>
          </a:p>
          <a:p>
            <a:pPr marL="0" marR="0" indent="0" algn="ctr">
              <a:lnSpc>
                <a:spcPts val="23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i="0" u="none" strike="noStrike" cap="none" spc="0">
                <a:solidFill>
                  <a:srgbClr val="F8FAFC"/>
                </a:solidFill>
                <a:latin typeface="undefined"/>
                <a:ea typeface="undefined"/>
                <a:cs typeface="undefined"/>
              </a:rPr>
              <a:t> </a:t>
            </a:r>
            <a:r>
              <a:rPr lang="en-US" sz="1400" i="0" u="none" strike="noStrike" cap="none" spc="0">
                <a:solidFill>
                  <a:srgbClr val="F8FAFC"/>
                </a:solidFill>
                <a:latin typeface="undefined"/>
                <a:ea typeface="undefined"/>
                <a:cs typeface="undefined"/>
              </a:rPr>
              <a:t>Módulo de Front-End &amp; Validação de UX/UI</a:t>
            </a:r>
            <a:endParaRPr sz="1500" b="0" i="0" u="none">
              <a:solidFill>
                <a:srgbClr val="CBD5E1"/>
              </a:solidFill>
              <a:latin typeface="Lato"/>
            </a:endParaRPr>
          </a:p>
        </p:txBody>
      </p:sp>
      <p:sp>
        <p:nvSpPr>
          <p:cNvPr id="1232963721" name="TextBox 3"/>
          <p:cNvSpPr txBox="1"/>
          <p:nvPr/>
        </p:nvSpPr>
        <p:spPr bwMode="auto">
          <a:xfrm>
            <a:off x="6892304" y="3136167"/>
            <a:ext cx="4730714" cy="1219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indent="0" algn="l">
              <a:lnSpc>
                <a:spcPts val="23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cap="none" spc="0">
                <a:solidFill>
                  <a:srgbClr val="F8FAFC"/>
                </a:solidFill>
                <a:latin typeface="undefined"/>
                <a:ea typeface="undefined"/>
                <a:cs typeface="undefined"/>
              </a:rPr>
              <a:t>Módulo Cliente</a:t>
            </a:r>
            <a:endParaRPr sz="1500" b="0" i="0" u="none" strike="noStrike" cap="none" spc="0">
              <a:solidFill>
                <a:srgbClr val="F8FAFC"/>
              </a:solidFill>
              <a:latin typeface="undefined"/>
              <a:ea typeface="undefined"/>
              <a:cs typeface="undefined"/>
            </a:endParaRPr>
          </a:p>
          <a:p>
            <a:pPr marL="0" marR="0" indent="0" algn="l">
              <a:lnSpc>
                <a:spcPts val="23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0" i="0" u="none" strike="noStrike" cap="none" spc="0">
                <a:solidFill>
                  <a:srgbClr val="F8FAFC"/>
                </a:solidFill>
                <a:latin typeface="undefined"/>
                <a:ea typeface="undefined"/>
                <a:cs typeface="undefined"/>
              </a:rPr>
              <a:t>Fluxos de cadastro, carrinho, cupons, split  de cartões de crédito, tracking de pedidos e widget de IA (Chatbot). 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              </a:t>
            </a:r>
            <a:r>
              <a:rPr lang="pt-BR" sz="1500" b="0" i="0" u="none" strike="noStrike" cap="none" spc="0">
                <a:solidFill>
                  <a:srgbClr val="F8FAFC"/>
                </a:solidFill>
                <a:latin typeface="Lato"/>
                <a:ea typeface="Lato"/>
                <a:cs typeface="Lato"/>
              </a:rPr>
              <a:t> 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          </a:t>
            </a:r>
            <a:endParaRPr sz="1500" b="0" i="0" u="none">
              <a:solidFill>
                <a:srgbClr val="CBD5E1"/>
              </a:solidFill>
              <a:latin typeface="Lato"/>
            </a:endParaRPr>
          </a:p>
        </p:txBody>
      </p:sp>
      <p:sp>
        <p:nvSpPr>
          <p:cNvPr id="1636285694" name="TextBox 5"/>
          <p:cNvSpPr txBox="1"/>
          <p:nvPr/>
        </p:nvSpPr>
        <p:spPr bwMode="auto">
          <a:xfrm>
            <a:off x="6943725" y="4642884"/>
            <a:ext cx="4717394" cy="1219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indent="0" algn="l">
              <a:lnSpc>
                <a:spcPts val="23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cap="none" spc="0">
                <a:solidFill>
                  <a:srgbClr val="F8FAFC"/>
                </a:solidFill>
                <a:latin typeface="undefined"/>
                <a:ea typeface="undefined"/>
                <a:cs typeface="undefined"/>
              </a:rPr>
              <a:t>Módulo Administrador</a:t>
            </a:r>
            <a:endParaRPr lang="en-US" sz="1500" i="0" u="none" strike="noStrike" cap="none" spc="0">
              <a:solidFill>
                <a:srgbClr val="F8FAFC"/>
              </a:solidFill>
              <a:latin typeface="undefined"/>
              <a:ea typeface="undefined"/>
              <a:cs typeface="undefined"/>
            </a:endParaRPr>
          </a:p>
          <a:p>
            <a:pPr marL="0" marR="0" indent="0" algn="l">
              <a:lnSpc>
                <a:spcPts val="23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i="0" u="none" strike="noStrike" cap="none" spc="0">
                <a:solidFill>
                  <a:srgbClr val="F8FAFC"/>
                </a:solidFill>
                <a:latin typeface="undefined"/>
                <a:ea typeface="undefined"/>
                <a:cs typeface="undefined"/>
              </a:rPr>
              <a:t>Gestão operacional da esteira de status de  pedidos (compras e trocas/devoluções) e gráfico analítico de vendas.          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     </a:t>
            </a:r>
            <a:endParaRPr sz="1500" b="0" i="0" u="none">
              <a:solidFill>
                <a:srgbClr val="CBD5E1"/>
              </a:solidFill>
              <a:latin typeface="Lato"/>
            </a:endParaRPr>
          </a:p>
        </p:txBody>
      </p:sp>
      <p:sp>
        <p:nvSpPr>
          <p:cNvPr id="1276793925" name="TextBox 6"/>
          <p:cNvSpPr txBox="1"/>
          <p:nvPr/>
        </p:nvSpPr>
        <p:spPr bwMode="auto">
          <a:xfrm>
            <a:off x="6892304" y="1611807"/>
            <a:ext cx="4718474" cy="1219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indent="0" algn="l">
              <a:lnSpc>
                <a:spcPts val="23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cap="none" spc="0">
                <a:solidFill>
                  <a:srgbClr val="F8FAFC"/>
                </a:solidFill>
                <a:latin typeface="undefined"/>
                <a:ea typeface="undefined"/>
                <a:cs typeface="undefined"/>
              </a:rPr>
              <a:t>Objetivo Principal</a:t>
            </a:r>
            <a:endParaRPr lang="en-US" sz="1500" i="0" u="none" strike="noStrike" cap="none" spc="0">
              <a:solidFill>
                <a:srgbClr val="F8FAFC"/>
              </a:solidFill>
              <a:latin typeface="undefined"/>
              <a:ea typeface="undefined"/>
              <a:cs typeface="undefined"/>
            </a:endParaRPr>
          </a:p>
          <a:p>
            <a:pPr marL="0" marR="0" indent="0" algn="l">
              <a:lnSpc>
                <a:spcPts val="23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i="0" u="none" strike="noStrike" cap="none" spc="0">
                <a:solidFill>
                  <a:srgbClr val="F8FAFC"/>
                </a:solidFill>
                <a:latin typeface="undefined"/>
                <a:ea typeface="undefined"/>
                <a:cs typeface="undefined"/>
              </a:rPr>
              <a:t>Apresentação do protótipo de alta fidelidade  das telas do e-commerce, integrando navegação navegável e regras  avançadas de UX/UI.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             </a:t>
            </a:r>
            <a:endParaRPr sz="1500" b="0" i="0" u="none">
              <a:solidFill>
                <a:srgbClr val="CBD5E1"/>
              </a:solidFill>
              <a:latin typeface="Lato"/>
            </a:endParaRPr>
          </a:p>
        </p:txBody>
      </p:sp>
      <p:sp>
        <p:nvSpPr>
          <p:cNvPr id="1437573948" name="TextBox 7"/>
          <p:cNvSpPr txBox="1"/>
          <p:nvPr/>
        </p:nvSpPr>
        <p:spPr bwMode="auto">
          <a:xfrm>
            <a:off x="1181091" y="3630222"/>
            <a:ext cx="4716673" cy="152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indent="0" algn="l">
              <a:lnSpc>
                <a:spcPts val="23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cap="none" spc="0">
                <a:solidFill>
                  <a:srgbClr val="F8FAFC"/>
                </a:solidFill>
                <a:latin typeface="undefined"/>
                <a:ea typeface="undefined"/>
                <a:cs typeface="undefined"/>
              </a:rPr>
              <a:t>Escopo das Telas</a:t>
            </a:r>
            <a:endParaRPr lang="en-US" sz="1500" i="0" u="none" strike="noStrike" cap="none" spc="0">
              <a:solidFill>
                <a:srgbClr val="F8FAFC"/>
              </a:solidFill>
              <a:latin typeface="undefined"/>
              <a:cs typeface="undefined"/>
            </a:endParaRPr>
          </a:p>
          <a:p>
            <a:pPr marL="0" marR="0" indent="0" algn="l">
              <a:lnSpc>
                <a:spcPts val="23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i="0" u="none" strike="noStrike" cap="none" spc="0">
                <a:solidFill>
                  <a:srgbClr val="F8FAFC"/>
                </a:solidFill>
                <a:latin typeface="undefined"/>
                <a:ea typeface="undefined"/>
                <a:cs typeface="undefined"/>
              </a:rPr>
              <a:t>Apresentação  do protótipo funcional cobrindo 100% das regras de negócio do Cliente  (B2C) e Administrador (Backoffice) solicitadas no projeto acadêmico.</a:t>
            </a:r>
            <a:endParaRPr sz="1500" b="0" i="0" u="none">
              <a:solidFill>
                <a:srgbClr val="CBD5E1"/>
              </a:solidFill>
              <a:latin typeface="Lato"/>
            </a:endParaRPr>
          </a:p>
        </p:txBody>
      </p:sp>
      <p:pic>
        <p:nvPicPr>
          <p:cNvPr id="897498179" name="Picture 8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381749" y="1764207"/>
            <a:ext cx="380999" cy="323849"/>
          </a:xfrm>
          <a:prstGeom prst="rect">
            <a:avLst/>
          </a:prstGeom>
        </p:spPr>
      </p:pic>
      <p:pic>
        <p:nvPicPr>
          <p:cNvPr id="689476644" name="Picture 9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71500" y="3745947"/>
            <a:ext cx="304799" cy="323849"/>
          </a:xfrm>
          <a:prstGeom prst="rect">
            <a:avLst/>
          </a:prstGeom>
        </p:spPr>
      </p:pic>
      <p:pic>
        <p:nvPicPr>
          <p:cNvPr id="2054505426" name="Picture 12" descr="imag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381749" y="3192876"/>
            <a:ext cx="380999" cy="323849"/>
          </a:xfrm>
          <a:prstGeom prst="rect">
            <a:avLst/>
          </a:prstGeom>
        </p:spPr>
      </p:pic>
      <p:pic>
        <p:nvPicPr>
          <p:cNvPr id="1605339788" name="Picture 13" descr="image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419849" y="4720889"/>
            <a:ext cx="304799" cy="3238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93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5065901" name="TextBox 1"/>
          <p:cNvSpPr txBox="1"/>
          <p:nvPr/>
        </p:nvSpPr>
        <p:spPr bwMode="auto">
          <a:xfrm flipH="0" flipV="0">
            <a:off x="637" y="465666"/>
            <a:ext cx="12187071" cy="45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lang="pt-BR" sz="3000" b="1" i="0" u="none">
                <a:solidFill>
                  <a:srgbClr val="8B5CF6"/>
                </a:solidFill>
                <a:latin typeface="Poppins"/>
              </a:rPr>
              <a:t>KANBAN ATUALIZADO</a:t>
            </a:r>
            <a:endParaRPr/>
          </a:p>
        </p:txBody>
      </p:sp>
      <p:pic>
        <p:nvPicPr>
          <p:cNvPr id="1866513509" name=""/>
          <p:cNvPicPr>
            <a:picLocks noChangeAspect="1"/>
          </p:cNvPicPr>
          <p:nvPr/>
        </p:nvPicPr>
        <p:blipFill rotWithShape="1">
          <a:blip r:embed="rId3"/>
          <a:srcRect l="0" t="14615" r="10530" b="8405"/>
          <a:stretch/>
        </p:blipFill>
        <p:spPr bwMode="auto">
          <a:xfrm flipH="0" flipV="0">
            <a:off x="2503362" y="1002303"/>
            <a:ext cx="7181619" cy="5279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93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9426009" name="TextBox 1"/>
          <p:cNvSpPr txBox="1"/>
          <p:nvPr/>
        </p:nvSpPr>
        <p:spPr bwMode="auto">
          <a:xfrm flipH="0" flipV="0">
            <a:off x="636" y="465665"/>
            <a:ext cx="12187071" cy="45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lang="pt-BR" sz="3000" b="1" i="0" u="none">
                <a:solidFill>
                  <a:srgbClr val="8B5CF6"/>
                </a:solidFill>
                <a:latin typeface="Poppins"/>
              </a:rPr>
              <a:t>KANBAN ATUALIZADO</a:t>
            </a:r>
            <a:endParaRPr/>
          </a:p>
        </p:txBody>
      </p:sp>
      <p:pic>
        <p:nvPicPr>
          <p:cNvPr id="167179829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55887" y="923225"/>
            <a:ext cx="10876568" cy="55014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93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664585" name="TextBox 1"/>
          <p:cNvSpPr txBox="1"/>
          <p:nvPr/>
        </p:nvSpPr>
        <p:spPr bwMode="auto">
          <a:xfrm flipH="0" flipV="0">
            <a:off x="636" y="465665"/>
            <a:ext cx="12187071" cy="45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lang="pt-BR" sz="3000" b="1" i="0" u="none">
                <a:solidFill>
                  <a:srgbClr val="8B5CF6"/>
                </a:solidFill>
                <a:latin typeface="Poppins"/>
              </a:rPr>
              <a:t>KANBAN ATUALIZADO</a:t>
            </a:r>
            <a:endParaRPr/>
          </a:p>
        </p:txBody>
      </p:sp>
      <p:pic>
        <p:nvPicPr>
          <p:cNvPr id="211590806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04901" y="1369993"/>
            <a:ext cx="10984035" cy="3710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93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47981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93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727917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93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15366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93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425767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93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146627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293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587236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48</cp:revision>
  <dcterms:created xsi:type="dcterms:W3CDTF">2013-01-27T09:14:16Z</dcterms:created>
  <dcterms:modified xsi:type="dcterms:W3CDTF">2026-09-01T00:50:36Z</dcterms:modified>
  <cp:category/>
</cp:coreProperties>
</file>